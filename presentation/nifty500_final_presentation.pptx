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0972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DATA ANALYTICS INTERN CAPSTONE · PRODUCT REQUIREMENTS DOCUMENT v1.1</a:t>
            </a:r>
          </a:p>
          <a:p>
            <a:pPr>
              <a:spcBef>
                <a:spcPts val="800"/>
              </a:spcBef>
              <a:defRPr sz="3600" b="1">
                <a:solidFill>
                  <a:srgbClr val="F8FAFC"/>
                </a:solidFill>
                <a:latin typeface="Arial"/>
              </a:defRPr>
            </a:pPr>
            <a:r>
              <a:t>Nifty 500 Stock Price Prediction System</a:t>
            </a:r>
          </a:p>
          <a:p>
            <a:pPr>
              <a:spcBef>
                <a:spcPts val="8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End-to-End Analytics Lifecycle: Official NSE Sourcing, BSE Proxy Reconciliation, Econometric Benchmarking &amp; Streamlit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663440"/>
            <a:ext cx="106984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80060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Project Status: PRD Functionality Implemented · Naive-Baseline Target Not Achieved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Dataset: 1,240 Trading Sessions (01 Sep 2021 – 31 Aug 2026) | Primary Benchmark: NSE Nifty 500 | Proxy: BSE 500</a:t>
            </a:r>
            <a:br/>
            <a:r>
              <a:t>Author: Data Analytics Intern | Mentor Review Ready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NIFTY 500 PREDICTIVE MODELING · PRD V1.1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Executive Summary &amp; PRD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2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🎯 Core Project Objectives (PRD v1.1)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Authoritative Data Ingestion:</a:t>
            </a:r>
            <a:r>
              <a:rPr>
                <a:solidFill>
                  <a:srgbClr val="94A3B8"/>
                </a:solidFill>
              </a:rPr>
              <a:t> 5 years of daily market data (1,240 trading sessions) from the official NSE download with zero web scrapers.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BSE-500 Cross-Market Proxy:</a:t>
            </a:r>
            <a:r>
              <a:rPr>
                <a:solidFill>
                  <a:srgbClr val="94A3B8"/>
                </a:solidFill>
              </a:rPr>
              <a:t> Cross-exchange consistency validation across 1,229 common trading sessions.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Trading Calendar Integrity:</a:t>
            </a:r>
            <a:r>
              <a:rPr>
                <a:solidFill>
                  <a:srgbClr val="94A3B8"/>
                </a:solidFill>
              </a:rPr>
              <a:t> Strictly preserved active exchange trading days (~250/yr) with 0 synthetic weekend/holiday observations.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Multi-Family Modeling Suite:</a:t>
            </a:r>
            <a:r>
              <a:rPr>
                <a:solidFill>
                  <a:srgbClr val="94A3B8"/>
                </a:solidFill>
              </a:rPr>
              <a:t> Benchmarked Persistence Baseline, 5-Day SMA, Statistical ARIMA(1,1,1), Random Forest, XGBoost, and PyTorch LSTM.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Econometric Rigor:</a:t>
            </a:r>
            <a:r>
              <a:rPr>
                <a:solidFill>
                  <a:srgbClr val="94A3B8"/>
                </a:solidFill>
              </a:rPr>
              <a:t> Evaluated level RMSE and directional hit rates via formal one-sided Binomial hypothesis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📊 Key Deliverables &amp; Status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✓ Missing Data Benchmark:</a:t>
            </a:r>
            <a:r>
              <a:rPr>
                <a:solidFill>
                  <a:srgbClr val="94A3B8"/>
                </a:solidFill>
              </a:rPr>
              <a:t> 0.00% missing data post-cleaning (Exceeded PRD target &lt; 2%).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✓ Outlier Handling:</a:t>
            </a:r>
            <a:r>
              <a:rPr>
                <a:solidFill>
                  <a:srgbClr val="94A3B8"/>
                </a:solidFill>
              </a:rPr>
              <a:t> 2 detected return shocks (|Z| &gt; 5) verified as historical macroeconomic events and retained.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✓ Cross-Validation:</a:t>
            </a:r>
            <a:r>
              <a:rPr>
                <a:solidFill>
                  <a:srgbClr val="94A3B8"/>
                </a:solidFill>
              </a:rPr>
              <a:t> 5-Fold expanding TimeSeriesSplit cross-validation to assess multi-year stability.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✓ Performance Target:</a:t>
            </a:r>
            <a:r>
              <a:rPr>
                <a:solidFill>
                  <a:srgbClr val="94A3B8"/>
                </a:solidFill>
              </a:rPr>
              <a:t> Naive persistence baseline achieved lowest RMSE (209.33) per Martingale law. Target not achieved (honestly reported).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✓ Interactive Dashboard:</a:t>
            </a:r>
            <a:r>
              <a:rPr>
                <a:solidFill>
                  <a:srgbClr val="94A3B8"/>
                </a:solidFill>
              </a:rPr>
              <a:t> Full 8-page Streamlit dashboard with real model-driven multi-step forecasting ($T+1$ to $T+30$).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NIFTY 500 PREDICTIVE MODELING · PRD V1.1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Authoritative Data Sourcing &amp; BSE Proxy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3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626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1,240 SESSIONS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Official NSE Historical File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01 Sep 2021 – 31 Aug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645920"/>
            <a:ext cx="3328416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1737360"/>
            <a:ext cx="29626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0.9999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Price Correlation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NSE Nifty 500 vs. BSE 500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645920"/>
            <a:ext cx="3328416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4464" y="1737360"/>
            <a:ext cx="29626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0.9969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Daily Return Correlation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Strong Broad-Market Dynamics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698480" cy="2834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🏛️ Sourcing Architecture &amp; Role Clarification</a:t>
            </a:r>
          </a:p>
          <a:p>
            <a:pPr>
              <a:spcBef>
                <a:spcPts val="800"/>
              </a:spcBef>
              <a:defRPr sz="1100"/>
            </a:pPr>
            <a:r>
              <a:rPr b="1">
                <a:solidFill>
                  <a:srgbClr val="38BDF8"/>
                </a:solidFill>
              </a:rPr>
              <a:t>• Primary Authoritative Source:</a:t>
            </a:r>
            <a:r>
              <a:rPr>
                <a:solidFill>
                  <a:srgbClr val="94A3B8"/>
                </a:solidFill>
              </a:rPr>
              <a:t> Sourced directly from official NSE historical index download (NIFTY_500_Historical_PR_01-09-2021 to 31-08-2026.csv). Sourced with full schema: Date, Open, High, Low, Close, Volume, Adjusted Close. Zero third-party web scrapers.</a:t>
            </a:r>
          </a:p>
          <a:p>
            <a:pPr>
              <a:spcBef>
                <a:spcPts val="800"/>
              </a:spcBef>
              <a:defRPr sz="1100"/>
            </a:pPr>
            <a:r>
              <a:rPr b="1">
                <a:solidFill>
                  <a:srgbClr val="38BDF8"/>
                </a:solidFill>
              </a:rPr>
              <a:t>• BSE-500 Role Clarification:</a:t>
            </a:r>
            <a:r>
              <a:rPr>
                <a:solidFill>
                  <a:srgbClr val="94A3B8"/>
                </a:solidFill>
              </a:rPr>
              <a:t> BSE-500 is utilized strictly as a cross-exchange broad-market proxy for co-movement and reconciliation per PRD Section 5. It is NOT an interchangeable clone of Nifty 500.</a:t>
            </a:r>
          </a:p>
          <a:p>
            <a:pPr>
              <a:spcBef>
                <a:spcPts val="800"/>
              </a:spcBef>
              <a:defRPr sz="1100"/>
            </a:pPr>
            <a:r>
              <a:rPr b="1">
                <a:solidFill>
                  <a:srgbClr val="38BDF8"/>
                </a:solidFill>
              </a:rPr>
              <a:t>• Reconciliation Findings:</a:t>
            </a:r>
            <a:r>
              <a:rPr>
                <a:solidFill>
                  <a:srgbClr val="94A3B8"/>
                </a:solidFill>
              </a:rPr>
              <a:t> Evaluated across 1,229 common trading days. The near-perfect correlation (0.9999 price, 0.9969 return) confirms that both benchmarks reflect identical macro equity drivers across India's two premier exchanges.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NIFTY 500 PREDICTIVE MODELING · PRD V1.1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Trading Calendar Integrity &amp; Outlier Event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4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🚨 Verified Outlier Events (|Z-Score| &gt; 5)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</a:defRPr>
            </a:pPr>
            <a:r>
              <a:t>Event 1: Russia-Ukraine Crisis Outbreak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Date: 2022-02-24 | Close: ₹13,775.70 | Daily Return: -5.04% (Z = -5.59)</a:t>
            </a:r>
            <a:br/>
            <a:r>
              <a:t>Context: Global equity market crash upon geopolitical conflict outbreak. Verified against official NSE exchange records.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</a:defRPr>
            </a:pPr>
            <a:r>
              <a:t>Event 2: 2024 Indian General Election Results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Date: 2024-06-04 | Close: ₹20,323.85 | Daily Return: -6.76% (Z = -7.48)</a:t>
            </a:r>
            <a:br/>
            <a:r>
              <a:t>Context: Historic intraday market shock following unexpected election margin narrowness. Verified against official NSE exchange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💡 Econometric Retention Rationale</a:t>
            </a:r>
          </a:p>
          <a:p>
            <a:pPr>
              <a:spcBef>
                <a:spcPts val="1000"/>
              </a:spcBef>
              <a:defRPr sz="1000"/>
            </a:pPr>
            <a:r>
              <a:rPr b="1">
                <a:solidFill>
                  <a:srgbClr val="F8FAFC"/>
                </a:solidFill>
              </a:rPr>
              <a:t>✓ No Recording Errors:</a:t>
            </a:r>
            <a:r>
              <a:rPr>
                <a:solidFill>
                  <a:srgbClr val="94A3B8"/>
                </a:solidFill>
              </a:rPr>
              <a:t> Neither date is corrupt or misprinted. Both are verified, historic macroeconomic shocks.</a:t>
            </a:r>
          </a:p>
          <a:p>
            <a:pPr>
              <a:spcBef>
                <a:spcPts val="1000"/>
              </a:spcBef>
              <a:defRPr sz="1000"/>
            </a:pPr>
            <a:r>
              <a:rPr b="1">
                <a:solidFill>
                  <a:srgbClr val="F8FAFC"/>
                </a:solidFill>
              </a:rPr>
              <a:t>✓ Censorship Bias Prevention:</a:t>
            </a:r>
            <a:r>
              <a:rPr>
                <a:solidFill>
                  <a:srgbClr val="94A3B8"/>
                </a:solidFill>
              </a:rPr>
              <a:t> Deleting or capping genuine market shocks artificially suppresses return variance and understates downside risk.</a:t>
            </a:r>
          </a:p>
          <a:p>
            <a:pPr>
              <a:spcBef>
                <a:spcPts val="1000"/>
              </a:spcBef>
              <a:defRPr sz="1000"/>
            </a:pPr>
            <a:r>
              <a:rPr b="1">
                <a:solidFill>
                  <a:srgbClr val="F8FAFC"/>
                </a:solidFill>
              </a:rPr>
              <a:t>✓ Fat-Tail Reality:</a:t>
            </a:r>
            <a:r>
              <a:rPr>
                <a:solidFill>
                  <a:srgbClr val="94A3B8"/>
                </a:solidFill>
              </a:rPr>
              <a:t> Preserving verified shocks ensures models learn genuine leptokurtic equity dynamics.</a:t>
            </a:r>
          </a:p>
          <a:p>
            <a:pPr>
              <a:spcBef>
                <a:spcPts val="1000"/>
              </a:spcBef>
              <a:defRPr sz="1000"/>
            </a:pPr>
            <a:r>
              <a:rPr b="1">
                <a:solidFill>
                  <a:srgbClr val="F8FAFC"/>
                </a:solidFill>
              </a:rPr>
              <a:t>✓ Calendar Discipline:</a:t>
            </a:r>
            <a:r>
              <a:rPr>
                <a:solidFill>
                  <a:srgbClr val="94A3B8"/>
                </a:solidFill>
              </a:rPr>
              <a:t> Zero synthetic observations manufactured for weekends or exchange holidays.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NIFTY 500 PREDICTIVE MODELING · PRD V1.1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Feature Engineering Architecture (15+ Technical Signals)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5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Trend Indicators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SMA 20, SMA 50, SMA 200</a:t>
            </a:r>
            <a:br/>
            <a:r>
              <a:t>EMA 20, EMA 50</a:t>
            </a:r>
            <a:br/>
            <a:r>
              <a:t>Price-to-MA Distance Ratios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Momentum Oscillators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Relative Strength Index (RSI 14)</a:t>
            </a:r>
            <a:br/>
            <a:r>
              <a:t>MACD Line (12/26-day)</a:t>
            </a:r>
            <a:br/>
            <a:r>
              <a:t>MACD Signal Line (9-day)</a:t>
            </a:r>
            <a:br/>
            <a:r>
              <a:t>MACD Histogram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Volatility Measures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Bollinger Bands (Upper/Lower/Width)</a:t>
            </a:r>
            <a:br/>
            <a:r>
              <a:t>Bollinger %B Indicator</a:t>
            </a:r>
            <a:br/>
            <a:r>
              <a:t>20-Day Annualized Volatility</a:t>
            </a:r>
            <a:br/>
            <a:r>
              <a:t>50-Day Annualized Volatility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Volume &amp; Lags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Volume 20-Day SMA</a:t>
            </a:r>
            <a:br/>
            <a:r>
              <a:t>Volume Ratio to Moving Average</a:t>
            </a:r>
            <a:br/>
            <a:r>
              <a:t>Price Lags (t-1, t-2, t-5)</a:t>
            </a:r>
            <a:br/>
            <a:r>
              <a:t>Return Lags (1d, 5d, 20d)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🛡️ Zero Lookahead Bias Discipline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Warmup period of 200 trading days filtered out (1,040 feature rows retained). Every indicator is strictly computed using market information available on day t to predict Close(t+1). Scalers fitted exclusively on the training partition.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NIFTY 500 PREDICTIVE MODELING · PRD V1.1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Validation Methodology &amp; Time-Series Cross-Validation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6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⏱️ Chronological 80/20 Holdout Split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Strict Temporal Split:</a:t>
            </a:r>
            <a:r>
              <a:rPr>
                <a:solidFill>
                  <a:srgbClr val="94A3B8"/>
                </a:solidFill>
              </a:rPr>
              <a:t> No random shuffling to prevent future data leakage into training.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Training Window:</a:t>
            </a:r>
            <a:r>
              <a:rPr>
                <a:solidFill>
                  <a:srgbClr val="94A3B8"/>
                </a:solidFill>
              </a:rPr>
              <a:t> 832 trading sessions (21 Jun 2022 to 27 Oct 2025). Used for indicator baselining and model fitting.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Out-of-Sample Test Window:</a:t>
            </a:r>
            <a:r>
              <a:rPr>
                <a:solidFill>
                  <a:srgbClr val="94A3B8"/>
                </a:solidFill>
              </a:rPr>
              <a:t> 208 trading sessions (28 Oct 2025 to 28 Aug 2026; ~10 calendar months). Evaluated strictly out-of-sample.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Leak-Proof ARIMA Walk-Forward:</a:t>
            </a:r>
            <a:r>
              <a:rPr>
                <a:solidFill>
                  <a:srgbClr val="94A3B8"/>
                </a:solidFill>
              </a:rPr>
              <a:t> Iterative 1-step rolling extend (model.extend()) without re-smoothing future test observations.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🔄 5-Fold TimeSeriesSplit Cross-Validation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✓ PRD Section 12 Requirement:</a:t>
            </a:r>
            <a:r>
              <a:rPr>
                <a:solidFill>
                  <a:srgbClr val="94A3B8"/>
                </a:solidFill>
              </a:rPr>
              <a:t> Mitigate overfitting risk by evaluating stability across expanding historical horizons.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✓ Random Forest CV RMSE:</a:t>
            </a:r>
            <a:r>
              <a:rPr>
                <a:solidFill>
                  <a:srgbClr val="94A3B8"/>
                </a:solidFill>
              </a:rPr>
              <a:t> 1,094.54 (±779.47) | CV MAE: 849.42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✓ XGBoost Regressor CV RMSE:</a:t>
            </a:r>
            <a:r>
              <a:rPr>
                <a:solidFill>
                  <a:srgbClr val="94A3B8"/>
                </a:solidFill>
              </a:rPr>
              <a:t> 1,067.78 (±828.08) | CV MAE: 832.33</a:t>
            </a:r>
          </a:p>
          <a:p>
            <a:pPr>
              <a:spcBef>
                <a:spcPts val="10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✓ Econometric Finding:</a:t>
            </a:r>
            <a:r>
              <a:rPr>
                <a:solidFill>
                  <a:srgbClr val="94A3B8"/>
                </a:solidFill>
              </a:rPr>
              <a:t> As Nifty 500 expanded from ₹13,000 to ₹23,000 across 2022–2025, error variance scales proportionally with index level, highlighting multi-regime dynamics.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NIFTY 500 PREDICTIVE MODELING · PRD V1.1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Model Performance Benchmark Scorecard (N = 208 Test Days)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7 of 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  <a:gridCol w="1463040"/>
                <a:gridCol w="1463040"/>
                <a:gridCol w="1645920"/>
                <a:gridCol w="1554480"/>
              </a:tblGrid>
              <a:tr h="47026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Family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RMSE (Pts)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MAE (Pts)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MAPE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Directional Acc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Naive Persistence Baseline</a:t>
                      </a:r>
                    </a:p>
                  </a:txBody>
                  <a:tcPr>
                    <a:solidFill>
                      <a:srgbClr val="102D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102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209.33</a:t>
                      </a:r>
                    </a:p>
                  </a:txBody>
                  <a:tcPr>
                    <a:solidFill>
                      <a:srgbClr val="102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151.88</a:t>
                      </a:r>
                    </a:p>
                  </a:txBody>
                  <a:tcPr>
                    <a:solidFill>
                      <a:srgbClr val="102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0.669%</a:t>
                      </a:r>
                    </a:p>
                  </a:txBody>
                  <a:tcPr>
                    <a:solidFill>
                      <a:srgbClr val="102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02D2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Random Forest Regressor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Classical ML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228.48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169.05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0.742%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48.56%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XGBoost Regressor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Classical ML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239.19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181.36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0.795%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51.92%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5-Day Moving Average (SMA)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288.86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218.20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0.957%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51.44%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ARIMA(1, 1, 1) Walk-Forward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Statistical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291.08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216.41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0.950%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51.92%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PyTorch LSTM Network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Deep Learning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563.46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425.56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1.877%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56.73%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2578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⚖️ Critical Finding: Naive Persistence Baseline Achieves Lowest Level-Price RMSE (209.33)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Status: PRD functionality implemented; naive-baseline performance target not achieved. Under the Martingale property of asset prices (E[Pt+1 | Ft] = Pt), today's price is the minimum-variance quadratic estimator of tomorrow's price level.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NIFTY 500 PREDICTIVE MODELING · PRD V1.1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Statistical Hypothesis Testing &amp; Directional Realities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8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🎲 Binomial Directional Tests (H0: p = 0.50)</a:t>
            </a:r>
          </a:p>
          <a:p>
            <a:pPr>
              <a:spcBef>
                <a:spcPts val="1000"/>
              </a:spcBef>
              <a:defRPr sz="1050"/>
            </a:pPr>
            <a:r>
              <a:rPr b="1">
                <a:solidFill>
                  <a:srgbClr val="F8FAFC"/>
                </a:solidFill>
              </a:rPr>
              <a:t>• Naive Persistence Baseline:</a:t>
            </a:r>
            <a:r>
              <a:rPr>
                <a:solidFill>
                  <a:srgbClr val="94A3B8"/>
                </a:solidFill>
              </a:rPr>
              <a:t> Directional Accuracy = N/A. Since Pt+1 = Pt, it predicts zero price movement, not a directional signal.</a:t>
            </a:r>
          </a:p>
          <a:p>
            <a:pPr>
              <a:spcBef>
                <a:spcPts val="1000"/>
              </a:spcBef>
              <a:defRPr sz="1050"/>
            </a:pPr>
            <a:r>
              <a:rPr b="1">
                <a:solidFill>
                  <a:srgbClr val="F8FAFC"/>
                </a:solidFill>
              </a:rPr>
              <a:t>• XGBoost Regressor:</a:t>
            </a:r>
            <a:r>
              <a:rPr>
                <a:solidFill>
                  <a:srgbClr val="94A3B8"/>
                </a:solidFill>
              </a:rPr>
              <a:t> 108 / 208 days (51.92%) | 1-Sided p-value: 0.3138 | 95% Wilson CI: [45.16%, 58.62%]. Fail to reject H0.</a:t>
            </a:r>
          </a:p>
          <a:p>
            <a:pPr>
              <a:spcBef>
                <a:spcPts val="1000"/>
              </a:spcBef>
              <a:defRPr sz="1050"/>
            </a:pPr>
            <a:r>
              <a:rPr b="1">
                <a:solidFill>
                  <a:srgbClr val="F8FAFC"/>
                </a:solidFill>
              </a:rPr>
              <a:t>• PyTorch LSTM Network:</a:t>
            </a:r>
            <a:r>
              <a:rPr>
                <a:solidFill>
                  <a:srgbClr val="94A3B8"/>
                </a:solidFill>
              </a:rPr>
              <a:t> 118 / 208 days (56.73%) | 1-Sided p-value: 0.0305 | 95% Wilson CI: [49.94%, 63.28%]. Statistically significant directional momentum signal, but exhibits severe level-price drift (RMSE 563.46).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🧠 The Deep Learning Trade-Off</a:t>
            </a:r>
          </a:p>
          <a:p>
            <a:pPr>
              <a:spcBef>
                <a:spcPts val="1000"/>
              </a:spcBef>
              <a:defRPr sz="1050"/>
            </a:pPr>
            <a:r>
              <a:rPr b="1">
                <a:solidFill>
                  <a:srgbClr val="F8FAFC"/>
                </a:solidFill>
              </a:rPr>
              <a:t>✓ Why LSTM Struggles on Levels:</a:t>
            </a:r>
            <a:r>
              <a:rPr>
                <a:solidFill>
                  <a:srgbClr val="94A3B8"/>
                </a:solidFill>
              </a:rPr>
              <a:t> Raw equity price series are non-stationary with stochastic drift. Neural networks trained on MinMax-scaled price levels lack explicit local mean-reversion anchors, causing predictions to lag turning points.</a:t>
            </a:r>
          </a:p>
          <a:p>
            <a:pPr>
              <a:spcBef>
                <a:spcPts val="1000"/>
              </a:spcBef>
              <a:defRPr sz="1050"/>
            </a:pPr>
            <a:r>
              <a:rPr b="1">
                <a:solidFill>
                  <a:srgbClr val="F8FAFC"/>
                </a:solidFill>
              </a:rPr>
              <a:t>✓ Sequence Momentum:</a:t>
            </a:r>
            <a:r>
              <a:rPr>
                <a:solidFill>
                  <a:srgbClr val="94A3B8"/>
                </a:solidFill>
              </a:rPr>
              <a:t> The LSTM network successfully captures sequential regime momentum (56.73% hit rate), confirming multi-day temporal memory.</a:t>
            </a:r>
          </a:p>
          <a:p>
            <a:pPr>
              <a:spcBef>
                <a:spcPts val="1000"/>
              </a:spcBef>
              <a:defRPr sz="1050"/>
            </a:pPr>
            <a:r>
              <a:rPr b="1">
                <a:solidFill>
                  <a:srgbClr val="F8FAFC"/>
                </a:solidFill>
              </a:rPr>
              <a:t>✓ Institutional Practice:</a:t>
            </a:r>
            <a:r>
              <a:rPr>
                <a:solidFill>
                  <a:srgbClr val="94A3B8"/>
                </a:solidFill>
              </a:rPr>
              <a:t> In quantitative hedge funds, deep learning models are rarely trained on raw price levels; instead, they are formulated on stationary returns or residual alpha.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NIFTY 500 PREDICTIVE MODELING · PRD V1.1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Future Horizon Target Forecaster (Real Model Rollouts)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9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🔮 Recursive Machine Learning Rollouts</a:t>
            </a:r>
          </a:p>
          <a:p>
            <a:pPr>
              <a:spcBef>
                <a:spcPts val="1000"/>
              </a:spcBef>
              <a:defRPr sz="1050"/>
            </a:pPr>
            <a:r>
              <a:rPr b="1">
                <a:solidFill>
                  <a:srgbClr val="F8FAFC"/>
                </a:solidFill>
              </a:rPr>
              <a:t>• Trained Model Driven:</a:t>
            </a:r>
            <a:r>
              <a:rPr>
                <a:solidFill>
                  <a:srgbClr val="94A3B8"/>
                </a:solidFill>
              </a:rPr>
              <a:t> Unlike static fixed mathematical drift, future target forecasts are generated by actual trained models (Recursive XGBoost, Random Forest, ARIMA).</a:t>
            </a:r>
          </a:p>
          <a:p>
            <a:pPr>
              <a:spcBef>
                <a:spcPts val="1000"/>
              </a:spcBef>
              <a:defRPr sz="1050"/>
            </a:pPr>
            <a:r>
              <a:rPr b="1">
                <a:solidFill>
                  <a:srgbClr val="F8FAFC"/>
                </a:solidFill>
              </a:rPr>
              <a:t>• Iterative Indicator Recalculation:</a:t>
            </a:r>
            <a:r>
              <a:rPr>
                <a:solidFill>
                  <a:srgbClr val="94A3B8"/>
                </a:solidFill>
              </a:rPr>
              <a:t> At each forward step t+1...t+H, the predicted price is appended to the series and all 15+ technical indicators (SMA, EMA, RSI, MACD, BB) are dynamically updated.</a:t>
            </a:r>
          </a:p>
          <a:p>
            <a:pPr>
              <a:spcBef>
                <a:spcPts val="1000"/>
              </a:spcBef>
              <a:defRPr sz="1050"/>
            </a:pPr>
            <a:r>
              <a:rPr b="1">
                <a:solidFill>
                  <a:srgbClr val="F8FAFC"/>
                </a:solidFill>
              </a:rPr>
              <a:t>• Compounding Uncertainty Bands:</a:t>
            </a:r>
            <a:r>
              <a:rPr>
                <a:solidFill>
                  <a:srgbClr val="94A3B8"/>
                </a:solidFill>
              </a:rPr>
              <a:t> Confidence intervals expand realistically with forecast horizon length: Bounds = Forecast ± (z * RMSE * sqrt(h)).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📐 Two-Tier Horizon Architecture</a:t>
            </a:r>
          </a:p>
          <a:p>
            <a:pPr>
              <a:spcBef>
                <a:spcPts val="1000"/>
              </a:spcBef>
              <a:defRPr sz="1050"/>
            </a:pPr>
            <a:r>
              <a:rPr b="1">
                <a:solidFill>
                  <a:srgbClr val="F8FAFC"/>
                </a:solidFill>
              </a:rPr>
              <a:t>✓ Tier 1 — Backtesting Target (T+1):</a:t>
            </a:r>
            <a:r>
              <a:rPr>
                <a:solidFill>
                  <a:srgbClr val="94A3B8"/>
                </a:solidFill>
              </a:rPr>
              <a:t> 1-step ahead daily closing price evaluation for rigorous sequential testing against persistence baselines with zero lookahead bias.</a:t>
            </a:r>
          </a:p>
          <a:p>
            <a:pPr>
              <a:spcBef>
                <a:spcPts val="1000"/>
              </a:spcBef>
              <a:defRPr sz="1050"/>
            </a:pPr>
            <a:r>
              <a:rPr b="1">
                <a:solidFill>
                  <a:srgbClr val="F8FAFC"/>
                </a:solidFill>
              </a:rPr>
              <a:t>✓ Tier 2 — Future Scenario Horizon (T+1 to T+30):</a:t>
            </a:r>
            <a:r>
              <a:rPr>
                <a:solidFill>
                  <a:srgbClr val="94A3B8"/>
                </a:solidFill>
              </a:rPr>
              <a:t> User-selectable multi-day forward projections in the Streamlit application for tactical scenario planning.</a:t>
            </a:r>
          </a:p>
          <a:p>
            <a:pPr>
              <a:spcBef>
                <a:spcPts val="1000"/>
              </a:spcBef>
              <a:defRPr sz="1050"/>
            </a:pPr>
            <a:r>
              <a:rPr b="1">
                <a:solidFill>
                  <a:srgbClr val="F8FAFC"/>
                </a:solidFill>
              </a:rPr>
              <a:t>✓ Statistical ARIMA Rollout:</a:t>
            </a:r>
            <a:r>
              <a:rPr>
                <a:solidFill>
                  <a:srgbClr val="94A3B8"/>
                </a:solidFill>
              </a:rPr>
              <a:t> Generated via statsmodels get_forecast(steps=H) with covariance-matrix derived confidence intervals.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NIFTY 500 PREDICTIVE MODELING · PRD V1.1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Interactive Streamlit Dashboard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10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Executive Overview &amp; KPIs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Real-time index metrics, 52-week boundaries, 5-year interactive Plotly price chart with 50/200 SMA overlays.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Technical Analysis &amp; EDA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Candlestick charts, Bollinger Bands, RSI, MACD, volatility clustering, and verified outlier shock table (|Z| &gt; 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Cross-Exchange Reconciliation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NSE vs. BSE correlation analysis (r = 0.9999 price, r = 0.9969 return) and trading calendar alignment.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Model Scorecard &amp; Forecaster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Full benchmark leaderboard, 5-Fold cross-validation display, and interactive T+1 to T+30 recursive forecasting.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NIFTY 500 PREDICTIVE MODELING · PRD V1.1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Limitations, Academic Disclaimer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57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Slide 11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⚠️ Limitations &amp; Academic Disclaimers</a:t>
            </a:r>
          </a:p>
          <a:p>
            <a:pPr>
              <a:spcBef>
                <a:spcPts val="12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Unmodeled Execution Frictions:</a:t>
            </a:r>
            <a:r>
              <a:rPr>
                <a:solidFill>
                  <a:srgbClr val="94A3B8"/>
                </a:solidFill>
              </a:rPr>
              <a:t> Bid-ask spreads, broker transaction fees, and Securities Transaction Tax (STT) are unmodeled.</a:t>
            </a:r>
          </a:p>
          <a:p>
            <a:pPr>
              <a:spcBef>
                <a:spcPts val="12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Structural Regime Shifts:</a:t>
            </a:r>
            <a:r>
              <a:rPr>
                <a:solidFill>
                  <a:srgbClr val="94A3B8"/>
                </a:solidFill>
              </a:rPr>
              <a:t> Major macroeconomic regime transitions cannot be predicted purely from historical price patterns.</a:t>
            </a:r>
          </a:p>
          <a:p>
            <a:pPr>
              <a:spcBef>
                <a:spcPts val="12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• Academic Portfolio Project:</a:t>
            </a:r>
            <a:r>
              <a:rPr>
                <a:solidFill>
                  <a:srgbClr val="94A3B8"/>
                </a:solidFill>
              </a:rPr>
              <a:t> Developed strictly as an educational intern research project. It is NOT financial advice, nor is it intended for live automated trading or real capital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🚀 Recommended Quantitative Next Steps</a:t>
            </a:r>
          </a:p>
          <a:p>
            <a:pPr>
              <a:spcBef>
                <a:spcPts val="12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✓ Stationary Returns Formulation:</a:t>
            </a:r>
            <a:r>
              <a:rPr>
                <a:solidFill>
                  <a:srgbClr val="94A3B8"/>
                </a:solidFill>
              </a:rPr>
              <a:t> Train deep learning architectures (LSTM, Temporal Fusion Transformers) on stationary log returns rather than raw price levels.</a:t>
            </a:r>
          </a:p>
          <a:p>
            <a:pPr>
              <a:spcBef>
                <a:spcPts val="12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✓ Macroeconomic Feature Ingestion:</a:t>
            </a:r>
            <a:r>
              <a:rPr>
                <a:solidFill>
                  <a:srgbClr val="94A3B8"/>
                </a:solidFill>
              </a:rPr>
              <a:t> Incorporate RBI repo rates, USD/INR exchange rates, Brent crude oil futures, and India VIX.</a:t>
            </a:r>
          </a:p>
          <a:p>
            <a:pPr>
              <a:spcBef>
                <a:spcPts val="1200"/>
              </a:spcBef>
              <a:defRPr sz="1100"/>
            </a:pPr>
            <a:r>
              <a:rPr b="1">
                <a:solidFill>
                  <a:srgbClr val="F8FAFC"/>
                </a:solidFill>
              </a:rPr>
              <a:t>✓ Hierarchical Sector Models:</a:t>
            </a:r>
            <a:r>
              <a:rPr>
                <a:solidFill>
                  <a:srgbClr val="94A3B8"/>
                </a:solidFill>
              </a:rPr>
              <a:t> Forecast broad index movements by modeling top constituent sectors (Nifty Bank, Nifty IT, Nifty Auto).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