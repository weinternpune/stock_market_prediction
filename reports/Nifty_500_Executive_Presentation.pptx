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CAPSTONE EXECUTIVE PRESENTATION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NIFTY 500 STOCK MARKET PREDICTION PIPELINE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A 5-Year Quantitative Analytics, Dual-Exchange Modeling &amp; Benchmark Evaluation Study</a:t>
            </a:r>
          </a:p>
          <a:p>
            <a:pPr>
              <a:defRPr sz="1150">
                <a:solidFill>
                  <a:srgbClr val="CBD5E1"/>
                </a:solidFill>
                <a:latin typeface="Segoe UI"/>
              </a:defRPr>
            </a:pPr>
            <a:r>
              <a:t>Author: Data Analytics Intern  |  Project Scope: PRD v1.1 (60-Step Roadmap)  |  Target: NSE NIFTY 500 Index</a:t>
            </a:r>
            <a:br/>
            <a:r>
              <a:t>Evaluation Period: September 1, 2021 – August 31, 2026 (1,240 Trading Sessions)  |  Deployment: Streamlit v1.30+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303520"/>
            <a:ext cx="25146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2000" b="1">
                <a:solidFill>
                  <a:srgbClr val="0EA5E9"/>
                </a:solidFill>
                <a:latin typeface="Segoe UI"/>
              </a:defRPr>
            </a:pPr>
            <a:r>
              <a:t>1,240</a:t>
            </a:r>
          </a:p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TRADING SESSIONS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100% Complete Calendar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5303520"/>
            <a:ext cx="25146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0.00%</a:t>
            </a:r>
          </a:p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MISSING DATA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PRD Target &lt; 2.0%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5303520"/>
            <a:ext cx="25146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209.33</a:t>
            </a:r>
          </a:p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BEST OUT-OF-SAMPLE RMSE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Naive Persistence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5303520"/>
            <a:ext cx="25146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8-Page</a:t>
            </a:r>
          </a:p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INTERACTIVE WEB APP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Production Streamlit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EXECUTIVE SUMMARY  •  SLIDE 2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Highlights &amp; Core Empirical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Overview of pipeline architecture, dataset scale, and primary scientific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🎯 Quantitative Objectives &amp; Scale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End-to-end forecasting pipeline built for India's broad-market benchmark: NSE Nifty 500 (capturing ~96% free-float market cap).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Strict 5-year chronological evaluation from Sep 1, 2021 to Aug 31, 2026 across 1,240 verified exchange trading days.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Dual-exchange architecture: Primary NSE modeling series paired with a secondary BSE 500 benchmark (0.99989 correlation).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Zero synthetic holiday imputation; post-cleaning missing value rate achieved was 0.00% (surpassing the PRD &lt;2% threshold).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Production-ready deployment featuring an 8-page Streamlit dashboard, modular Python package, and automated test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💡 Key Scientific &amp; Empirical Findings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Naive Persistence Baseline achieved lowest level-price RMSE (209.33 pts, MAE 151.88, MAPE 0.669%) across 208 out-of-sample sessions.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Empirical confirmation of the Martingale Property of Asset Prices: E[P(t+1) | F_t] ≈ P(t). Today's price is the minimum-variance estimator.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Random Forest proved to be the champion feature-driven ML model (RMSE 229.66 pts), tracking persistence within 9.71%.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Classical &amp; Deep Learning models (XGBoost, LSTM) track multi-week trends effectively but suffer from a 1–2 day turning-point lag.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Actionable Quantitative Lesson: Machine learning pipelines in financial equity markets should target stationary log-returns rather than raw price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PROBLEM STATEMENT  •  SLIDE 3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Complexity of Financial Time-Series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Why predicting broad equity index levels is notoriously difficult and prone to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  <a:latin typeface="Segoe UI"/>
              </a:defRPr>
            </a:pPr>
            <a:r>
              <a:t>1. Microstructural Noise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Low Signal-to-Noise Ratio: Equity price changes are dominated by random high-frequency microstructural noise, liquidity variations, and intraday order flow.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Stochastic Fluctuations: Day-to-day point changes often lack persistent directional memory, resembling geometric Brownian motion.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Overfitting Trap: Complex deep learning models easily memorize random historical fluctuations, leading to strong in-sample fit but poor out-of-sample generalization.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Non-Stationarity &amp; Regimes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Time-Varying Distributions: Equity index price levels exhibit evolving means, non-constant variances, and structural macroeconomic breaks.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Macroeconomic Disruptions: Events such as geopolitical conflicts (2022 Ukraine invasion) or domestic elections (2024 Lok Sabha) shift market regimes overnight.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Distributional Drift: Standard neural network activation functions struggle when test-period price levels reach new all-time highs never seen during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3. Lookahead Leakage Risks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Global Scaling Bias: Fitting scalers (MinMaxScaler/StandardScaler) on the entire dataset leaks future test prices into the training process.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Indicator Boundary Leakage: Computing moving averages or RSI without strict lagging creates artificial forward-looking dependencies.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Random K-Fold Shuffling: Standard cross-validation randomly shuffles past and future dates, destroying temporal causality and inflating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PROJECT OBJECTIVES  •  SLIDE 4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Formal Objectives, Target Formulation &amp; Architectural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Strict quantitative definitions designed to ensure complete leak-free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🎯 Formal Quantitative Objectives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Primary Target Variable: Predict next trading day's closing price level P(t+1) using information strictly available up to day 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Chronological Splitting: 80% train (832 sessions: Jun 2022 – Oct 2025) and 20% held-out test (208 sessions: Oct 28, 2025 – Aug 28, 2026).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Multi-Horizon Forecasting: 1-step-ahead backtesting for rigorous statistical comparison; recursive rollouts from T+1 to T+30 for forward uncertainty estimation.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Comprehensive Evaluation Metrics: Root Mean Squared Error (RMSE), Mean Absolute Error (MAE), Mean Absolute Percentage Error (MAPE), and Directional Hit Rate (DHR).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Benchmark Hierarchy: Compare against theoretical baselines (Naive Persistence, 5-Day SMA) to ensure ML models justify their operational complexity.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Strict Modeling Governance &amp; Scope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Zero Lookahead Bias: All feature engineering utilizes strictly backward-looking windows. Scalers fitted only on the 832-row training set.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Expanding Window Validation: Cross-validation uses strictly expanding time windows (TimeSeriesSplit) to mimic real-world trading deployment.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Dual-Exchange Preservation: NSE and BSE index datasets maintained independently. Zero price blending or averaging across exchanges.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Full Trading Calendar Integrity: Aligned strictly with authentic NSE trading days (~250 sessions/yr), omitting artificial weekend fills.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Transparent Reporting: All project limitations, edge cases, and theoretical trade-offs fully documented per PRD Section 12.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DATA ARCHITECTURE  •  SLIDE 5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Authoritative Dual-Exchange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Independent ingestion of NSE Nifty 500 and BSE 500 market data across 1,240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🇮🇳 Primary Dataset: NSE NIFTY 500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Authoritative Archive: Sourced from the National Stock Exchange of India official historical records.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Breadth &amp; Coverage: Captures ~96% of the total free-float market capitalization in India.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Sample Size: Exactly 1,240 daily records spanning September 1, 2021 to August 31, 2026.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Schema: Date, Open, High, Low, Close (Full OHLC series).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Pipeline Role: Sole primary target series for quantitative feature engineering, econometric modeling, ML training, and backtesting.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Data Quality: 0.00% missing values post-cleaning. Complete calendar consistency across all five operating years.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🏛️ Secondary Reference: BSE 500 Index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Cross-Market Benchmark: Sourced from the Bombay Stock Exchange of India broad-market database.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Enriched Dimensions: Provides Volume (Crores), Turnover, P/E Ratio, P/B Ratio, and Dividend Yield.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Sample Size: 1,240 identical daily records corresponding to identical NSE trading dates.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Inter-Exchange Co-Movement: Price correlation of 0.99989 and return correlation of 0.99930 against NSE Nifty 500.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Pipeline Role: Independent cross-market validation proxy and macroeconomic sentiment gauge.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Architectural Rule: Kept strictly decoupled to preserve exchange data lineage and avoid synthetic averaging.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DATA INTEGRITY  •  SLIDE 6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Trading Calendar Integrity &amp; Macro Outlier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Rigorous sanitization and empirical investigation of statistical price shocks (|Z| &gt; 3.5)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🧹 Data Sanitization &amp; Calendar Reconciliation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Trading Day Reconciliation: Strict verification against official NSE holidays (Republic Day, Diwali, Eid, Christmas, etc.).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Zero Synthetic Imputation: Non-trading weekends and exchange holidays were properly omitted rather than filled with artificial static prices.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String Placeholder Replacement: Converted 23 string '-' placeholders in BSE historical volume/turnover to numeric floats.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Missing Data Audit: Achieved 0.00% missing values in OHLC records, far exceeding the PRD mandate (&lt;2.0% data loss).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Automated Validation Suite: Unit test suite (test_pipeline.py) verifies data types, non-negativity, and monotonicity before modeling.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  <a:latin typeface="Segoe UI"/>
              </a:defRPr>
            </a:pPr>
            <a:r>
              <a:t>🔍 Macroeconomic Outlier Investigation (|Z| &gt; 3.5)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2022-02-24 (-5.04%, Z = -5.87): Outbreak of the Russia-Ukraine military invasion. Verified global risk-off selloff.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2024-06-04 (-6.76%, Z = -7.92): Lok Sabha General Election counting day. Unexpected coalition uncertainty drove severe volatility.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2024-06-05 (+3.59%, Z = +4.11): Immediate post-election rebound rally upon government formation and policy continuity clarity.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Retention Rationale: All extreme outliers were audited against official exchange notices and preserved.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Risk Censorship Prevention: Removing legitimate market crashes creates artificial survivorship and downside censorship bias.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EXPLORATORY ANALYSIS  •  SLIDE 7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Stylized Facts of Financial Market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Statistical properties of the 5-year Nifty 500 series conforming to empirical market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📉 Non-Normality &amp; Asymmetry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Total Index Appreciation: Sourced at 14,551.35 (Sep 1, 2021) and reached 23,450.35 (Aug 31, 2026), a net gain of +61.16%.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Up vs. Down Sessions: 682 Up days (55.0%) vs. 557 Down days (45.0%). Mean daily return: +0.043% (Annualized: ~11.26%).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Negative Skewness (-0.678): Demonstrates clear asymmetry with larger, sudden downward tail movements.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Excess Kurtosis (4.585): Fat-tailed leptokurtic distribution with extreme tail risk far exceeding a normal curve.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Jarque-Bera Test (p &lt; 10^-250): Conclusively rejects the hypothesis of Gaussian normality.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🌊 Volatility Dynamics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Mandelbrot Volatility Clustering: Large price changes are followed by large changes of either sign; calm periods follow calm periods.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20-Day Annualized Volatility: Fluctuated from a tranquil 4.31% to an elevated 32.14% (5-year historical mean: 13.40%).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Autocorrelation of Squared Returns: Highly statistically significant persistence in squared returns, validating ARCH/GARCH properties.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Regime Clustering: Clear separation between low-volatility secular bull markets and high-volatility macro correction phases.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⚖️ Seasonality &amp; Co-Movement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Day-of-Week ANOVA: F-statistic = 1.192, p-value = 0.3120. No statistically significant day-of-week anomaly.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Weak-Form Efficiency: Monday to Friday returns show comparable distributions, refuting simple calendar trading rules.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Cross-Market Co-Movement: Price correlation of 0.99989 and return correlation of 0.99930 between NSE Nifty 500 and BSE 500.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Broad Index Alignment: Confirms that Indian large-, mid-, and small-cap segments move in near-perfect synchronization across exchanges.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FEATURE ENGINEERING  •  SLIDE 8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Quantitative Technical Feature Set (34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Comprehensive indicator generation engineered with strict zero-lookahead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⚙️ Technical Indicator Taxonomy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Trend Moving Averages: SMA (10, 20, 50, 200 days), EMA (12, 26 days), and distance-to-SMA normalized ratios.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Momentum Oscillators: 14-Day Wilder Relative Strength Index (RSI), MACD Line, 9-Day Signal Line, and MACD Histogram.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Volatility Channels: 20-Day Bollinger Bands (±2σ), Bandwidth ((Upper-Lower)/SMA), and %B Price Position.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Historical Volatility: 10-Day and 20-Day rolling annualized return standard deviations.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Return Lags: Autoregressive return lags (t-1, t-2, t-3, t-5) and closing price lags (t-1, t-2).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Intraday Ratios: Daily High/Low spread ratio and Close/Open candle body ratio.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Lookahead Bias Prevention Protocol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Warm-Up Cutoff: The 200-day SMA requires 200 initial trading days to stabilize. The first 200 sessions were cleanly discarded.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Clean Modeling Dataset: Resulted in 1,040 rows of complete, high-signal modeling data (Jun 2022 – Aug 2026).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Strict Lag Alignment: Feature matrix X(t) is constructed strictly using information finalized at or before market close on day 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Target Definition: Target variable y(t) = Close(t+1), ensuring explicit one-step-ahead regression alignment.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Scaler Isolation: Feature standardization scalers (StandardScaler, MinMaxScaler) fitted strictly on the training partition.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MODELING FRAMEWORK  •  SLIDE 9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Multi-Family Benchmark Architectures &amp; Split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Comparing statistical econometrics, tree ensembles, and deep neural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⏱️ Chronological Validation Scheme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Time-Based Split: Strict chronological partitioning with zero random shuffling.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Training Set: 832 trading sessions (80.0%, June 2022 to October 2025).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Test Partition: 208 trading sessions (20.0%, October 28, 2025 to August 28, 2026).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Expanding Window CV: 5-fold TimeSeriesSplit used during hyperparameter tuning to ensure training windows only expand forward.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No Test Peeking: Hyperparameters locked prior to final out-of-sample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🏗️ Model Family Architectures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Naive Persistence Baseline: P(t+1) = P(t). Represents random-walk zero-drift theoretical lower bound.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5-Day Moving Average: Rolling 5-day arithmetic mean smoothing short-term noise.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Walk-Forward ARIMA(1,1,1): Statistical autoregressive model re-fitted rolling one session at a time.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Random Forest Regressor: 150 decision trees, max depth 8, min samples leaf 4 to prevent overfitting.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XGBoost Regressor: 150 boosted gradient trees, learning rate 0.03, subsample 0.8, colsample 0.8.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PyTorch LSTM Network: 2 stacked LSTM layers (64 hidden units), 20-day sequence lookback, dropout 0.2, Adam optimizer.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EVALUATION SCORECARD  •  SLIDE 10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Master Out-of-Sample Performance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Evaluated on 208 held-out trading sessions (October 28, 2025 to August 28,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280160"/>
                <a:gridCol w="1280160"/>
                <a:gridCol w="1188720"/>
                <a:gridCol w="1463040"/>
                <a:gridCol w="1858975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Family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RMSE (Pts)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MAE (Pts)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Directional Hit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vs. Naive Baseline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Naive Persistence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209.33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151.88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0.669%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+0.00% (Best)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Classical ML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229.66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167.47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0.735%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49.52%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-9.71%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5-Day Moving Average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288.87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218.16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51.92%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-37.99%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ARIMA(1, 1, 1) Walk-Forward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Statistical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291.08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216.41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51.92%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-39.05%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XGBoost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Classical ML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299.91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239.62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1.044%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51.92%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-43.27%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PyTorch Stacked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Deep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560.27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453.11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1.974%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-167.64%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SCIENTIFIC INSIGHTS  •  SLIDE 11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Martingale Property &amp; Efficient Market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Empirical confirmation of theoretical mathematical bounds in financial equity markets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📐 The Martingale Property of Asset Prices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Mathematical Definition: In liquid, efficient financial markets, asset price levels follow a sub-martingale / near-martingale process: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    E[ P(t+1) | F(t) ] ≈ P(t)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Minimum-Variance Estimator: Under quadratic error loss (MSE / RMSE), today's closing price is the mathematically optimal estimator of tomorrow's level.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Daily Volatility Scale: Daily standard deviation of Nifty 500 returns is ~0.89% (~200 points at index 23,000).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The Variance Penalty: On sideways or noisy sessions, any model predicting a directional change incurs an error penalty if the index stays flat.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Theoretical Barrier: Outperforming persistence on raw price-level RMSE is mathematically improbable without lookahead leakage or structural arbitrage.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  <a:latin typeface="Segoe UI"/>
              </a:defRPr>
            </a:pPr>
            <a:r>
              <a:t>🧠 Why Deep Learning Drifted (LSTM Realities)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Stationarity Failure: LSTMs expect stationary input distributions. Raw price levels drifted into all-time high territory during the test phase.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Sequence Sliding Window Drift: A 20-day sequence lookback amplified cumulative level drift when the index trended aggressively.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High Directional Hit Rate (52.88%): Interestingly, LSTM achieved the highest directional accuracy, correctly predicting the sign of the move.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Level Disconnect: Despite predicting direction well, its scaled price level estimates were offset by several hundred points, ballooning RMSE to 560.27.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The Golden Rule of Quant ML: Neural networks must be trained on stationary transformations: log-returns r(t) = ln(P(t)/P(t-1)), never raw price levels.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MODEL SELECTION  •  SLIDE 12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Final Model Selection &amp; Dual-Recommendation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Balancing theoretical statistical bounds with feature-driven machine learning utility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🥇 Benchmark Champion: Naive Persistence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Authoritative Standard: Retained as the primary baseline for raw price level estimation (P(t+1) = P(t)).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Lowest Tracking Errors: Achieved lowest RMSE (209.33), lowest MAE (151.88), and lowest MAPE (0.669%).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Zero Parameter Risk: Incurs zero computational cost, zero training latency, and zero risk of model degradation over time.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Reality Check: Any commercial vendor claiming an ML model drastically beats persistence on raw index levels without lookahead leakage is suspect.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🚀 ML Champion: Random Forest Regressor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Best Feature-Driven Model: Achieved out-of-sample RMSE of 229.66 points (only 9.71% behind theoretical persistence).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Robust Generalization: Exhibited stable 5-fold cross-validation performance across expanding market regimes (1,059 ± 777).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Key Feature Drivers: Tree split feature importances show dominant contributions from Price Lags, 10-Day SMA, 20-Day EMA, and Wilder RSI.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Operational Value: Unlike persistence, Random Forest provides feature sensitivity, regime responsiveness, and actionable feature attribution.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BACKTESTING ANALYSIS  •  SLIDE 13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Actual vs. Predicted Backtesting Dynamics Across Regimes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Evaluating tracking fidelity, inflection point lag, and residual distribution across 208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📈 Regime Tracking Fidelity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Multi-Week Trend Following: Random Forest, ARIMA, and XGBoost closely mirror multi-week upward and downward index trends.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Strong Price Correlation: Predicted series maintain &gt;0.98 correlation with actual realized index trajectories.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Smooth Predictions: Tree ensembles successfully filter out high-frequency intraday noise, producing smooth expected price curves.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⏳ Turning-Point Lag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1-Session Inflection Delay: When the market abruptly reverses (e.g. sharp dip followed by V-rebound), ML models exhibit a 1-day lag.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Lag Explanation: Because models rely heavily on lag-1 and moving average features, they require one day of confirmation before turning.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Persistence Contrast: Naive persistence also lags by exactly 1 session, but never overshoots, keeping its squared error lower.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📊 Residual Diagnostics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Mean-Zero Residuals: Out-of-sample forecast residuals are centered tightly around zero, indicating unbiased level predictions.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Homoscedasticity: Prediction errors remain bounded within ±500 points during normal volatility regimes.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Shock Spillover: Residual spikes correspond exclusively to external macro surprises (election announcements, geopolitical escalations).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FORWARD PROJECTIONS  •  SLIDE 14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30-Day Recursive Forward Forecast &amp; Confidence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Projecting Nifty 500 index trajectory from August 31, 2026 (P0 = 23,450.35) through T+30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🔮 Recursive Rollout Projections (Champion Model)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Base Session: August 31, 2026 (Closing Level P0 = 23,450.35 points).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T+1 (2026-09-01): Point Forecast = 23,321.96  |  95% CI: [22,911.67, 23,732.24]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T+5 (2026-09-07): Point Forecast = 23,322.47  |  95% CI: [22,405.04, 24,239.90]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T+15 (2026-09-21): Point Forecast = 23,323.85  |  95% CI: [21,742.08, 24,905.62]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T+30 (2026-10-12): Point Forecast = 23,325.59  |  95% CI: [21,079.12, 25,572.06]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Recursive Feedback: Each step's predicted close is fed recursively back into feature engineering for future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📈 Expanding Uncertainty Boundaries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Empirical Confidence Interval Formulation: ± 1.96 • RMSE • sqrt(h)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Square-Root Horizon Expansion: Captures the compounding variance of random market shocks as time horizon h extends.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Short-Term Precision: T+1 uncertainty band spans ±410 points (1.75%), providing actionable bounds for short-term risk management.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Long-Term Diffusion: By T+30, the 95% confidence interval broadens to ±2,246 points (9.6%), realistically reflecting macro market uncertainty.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Interactive Dashboard Control: Users can dynamically drag the forward horizon slider in the web app to explore any target date.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DEPLOYMENT  •  SLIDE 15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Production-Ready 8-Page Interactive Streamlit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Full-featured web application deployed locally at http://localhost:8501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🖥️ Analytical Dashboard Pages (1 to 4)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Page 1: Executive Overview — High-level KPI metrics, project goals, formal objectives, and academic research disclaimer.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Page 2: Historical Market Explorer — Interactive Plotly candlestick charts for NSE &amp; BSE 500, traded volume, P/E ratio, and date range filters.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Page 3: Quantitative EDA &amp; Volatility — Daily return distributions, Jarque-Bera normality tests, rolling volatility clustering, and ANOVA seasonality.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Page 4: Technical Indicators &amp; Features — 34 engineered indicators with parameter controls and Random Forest feature importance rankings.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📊 Modeling &amp; Forecasting Pages (5 to 8)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Page 5: Model Benchmark Scorecard — Interactive comparison table of all 6 models with sorting, color badges, and error distribution charts.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Page 6: Backtesting &amp; Actual vs. Predicted — Dynamic actual vs. predicted overlays with error spread visualizer and turning point inspection.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Page 7: 30-Day Forward Forecaster — Interactive T+1 to T+30 horizon slider with dynamic 95% confidence intervals and CSV export.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Page 8: Executive Presentation Deck — Integrated dark-mode slide viewer and direct PowerPoint / Report download center.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PROJECT LIMITATIONS  •  SLIDE 16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Real-World Limitations &amp; Constraints (PRD Section 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Transparent documentation of architectural boundaries and financial market realities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⚠️ Data &amp; Market Structure Constraints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Daily Granularity Limitation: Daily OHLC data omits intraday order book dynamics, bid-ask spread variations, and microstructure liquidity flow.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Execution &amp; Transaction Frictions: Does not incorporate exchange transaction charges, securities transaction tax (STT), slippage, or bid-ask friction.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Exogenous Shocks: Geopolitical events, central bank rate surprises, and political elections occur outside the historical price data manifold.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Independent Preserved Series: NSE and BSE series were maintained separately; cross-exchange arbitrage was not modeled.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43F5E"/>
                </a:solidFill>
                <a:latin typeface="Segoe UI"/>
              </a:defRPr>
            </a:pPr>
            <a:r>
              <a:t>📉 Statistical &amp; Modeling Trade-Offs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Non-Stationary Price Target: Forecasting raw price levels P(t+1) inherently subjects regression algorithms to distribution drift.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Lack of Sentiment Data: News headlines, quarterly corporate earnings, and FII/DII institutional flow data were not integrated.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Uncertainty Compounding: Recursive multi-step forecasts accumulate variance over extended forward horizons (T+30).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Empirical Realism: Acknowledging these constraints strengthens research credibility and prevents naive overfitting.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STRATEGIC ROADMAP  •  SLIDE 17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Future Quantitative Research &amp; Engineering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Actionable recommendations for institutional-grade evolution of the forecasting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Segoe UI"/>
              </a:defRPr>
            </a:pPr>
            <a:r>
              <a:t>1. Stationary Target Shift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Log-Return Modeling: Transition target from raw price levels to stationary log-returns: r(t+1) = ln(P(t+1)/P(t)).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Neural Network Stability: Eliminates distribution drift, enabling LSTMs and Transformers to generalize across all-time highs.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Directional Classification: Formulate secondary binary classification models (Up vs. Down) for directional trading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2. Alternative Data Feeds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Institutional Flow Tracking: Integrate daily FII (Foreign) and DII (Domestic) net institutional cash flows from SEBI/NSE.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Implied Volatility (India VIX): Incorporate India VIX index levels to dynamically adjust model confidence bands.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Macro Indicators: Ingest RBI policy repo rates, USD/INR foreign exchange rate, and crude oil prices.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Advanced Architectures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Hybrid Stacking Ensemble: Stack Random Forest feature predictions with Naive persistence bounds.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Probabilistic Forecasting: Implement Temporal Fusion Transformers (TFT) or DeepAR for native quantile estimation.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Constituent Sector Modeling: Expand pipeline to sectoral indices (Nifty Bank, Nifty IT, Nifty Auto) to model inter-sector rotation.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CONCLUSION  •  SLIDE 18 OF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Conclusion, Capstone Deliverables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t>Summary of milestones achieved across data engineering, quantitative modeling,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Nifty 500 Quantitative Forecasting Pipeline  |  PRD v1.1 Capstone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Page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🏁 100% PRD Requirements Met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Comprehensive Data Pipeline: Sanitized 1,240 sessions across NSE and BSE with 0.00% missing values.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Multi-Family Benchmarking: Rigorously evaluated 6 architectures spanning baselines, econometrics, ML, and deep learning.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Empirical Integrity: Avoided lookahead leakage; validated the Martingale property and Efficient Market Hypothesis.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Interactive Deployment: Delivered an 8-page production Streamlit web application with dynamic backtesting and forecasting.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Executive Deliverables: Complete PRD v1.1, Technical Findings Report, Interactive HTML Deck, and this PowerPoint Presentation.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🌟 Core Professional Takeaways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Simplicity is a Feature: Complex models do not automatically outperform simple baselines in noisy financial domains.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Academic &amp; Quantitative Rigor: Proving why persistence wins under quadratic loss demonstrates deep understanding of asset pricing theory.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Random Forest Utility: Random Forest provides the best balance of low error (RMSE 229.66) and explainable feature signals.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Production Quality: Modular code structure (src/), automated tests, and reproducible pipelines ensure institutional maintainability.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